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4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" y="27432"/>
            <a:ext cx="1005840" cy="347472"/>
          </a:xfrm>
          <a:prstGeom prst="rect">
            <a:avLst/>
          </a:prstGeom>
          <a:solidFill>
            <a:srgbClr val="1C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Partner
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" y="45720"/>
            <a:ext cx="1078992" cy="310896"/>
          </a:xfrm>
          <a:prstGeom prst="rect">
            <a:avLst/>
          </a:prstGeom>
          <a:solidFill>
            <a:srgbClr val="2C6090"/>
          </a:solidFill>
          <a:ln w="635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Ecommerce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21991" y="45720"/>
            <a:ext cx="1078992" cy="310896"/>
          </a:xfrm>
          <a:prstGeom prst="rect">
            <a:avLst/>
          </a:prstGeom>
          <a:solidFill>
            <a:srgbClr val="2C6090"/>
          </a:solidFill>
          <a:ln w="635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Education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4991" y="45720"/>
            <a:ext cx="1078992" cy="310896"/>
          </a:xfrm>
          <a:prstGeom prst="rect">
            <a:avLst/>
          </a:prstGeom>
          <a:solidFill>
            <a:srgbClr val="2C6090"/>
          </a:solidFill>
          <a:ln w="635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Hospitality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7992" y="45720"/>
            <a:ext cx="1078992" cy="310896"/>
          </a:xfrm>
          <a:prstGeom prst="rect">
            <a:avLst/>
          </a:prstGeom>
          <a:solidFill>
            <a:srgbClr val="2C6090"/>
          </a:solidFill>
          <a:ln w="635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Healthcare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50992" y="45720"/>
            <a:ext cx="1078992" cy="310896"/>
          </a:xfrm>
          <a:prstGeom prst="rect">
            <a:avLst/>
          </a:prstGeom>
          <a:solidFill>
            <a:srgbClr val="2C6090"/>
          </a:solidFill>
          <a:ln w="635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Transportation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93992" y="45720"/>
            <a:ext cx="1078992" cy="310896"/>
          </a:xfrm>
          <a:prstGeom prst="rect">
            <a:avLst/>
          </a:prstGeom>
          <a:solidFill>
            <a:srgbClr val="2C6090"/>
          </a:solidFill>
          <a:ln w="635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Recreation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45720"/>
            <a:ext cx="1078992" cy="310896"/>
          </a:xfrm>
          <a:prstGeom prst="rect">
            <a:avLst/>
          </a:prstGeom>
          <a:solidFill>
            <a:srgbClr val="2C6090"/>
          </a:solidFill>
          <a:ln w="635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ETL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45720"/>
            <a:ext cx="1188720" cy="310896"/>
          </a:xfrm>
          <a:prstGeom prst="rect">
            <a:avLst/>
          </a:prstGeom>
          <a:solidFill>
            <a:srgbClr val="2C6090"/>
          </a:solidFill>
          <a:ln w="635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[more icons]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2415" y="402336"/>
            <a:ext cx="9473184" cy="5779008"/>
          </a:xfrm>
          <a:prstGeom prst="rect">
            <a:avLst/>
          </a:prstGeom>
          <a:solidFill>
            <a:srgbClr val="1C4268"/>
          </a:solidFill>
          <a:ln w="12700">
            <a:solidFill>
              <a:srgbClr val="2C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2415" y="402336"/>
            <a:ext cx="9473184" cy="274320"/>
          </a:xfrm>
          <a:prstGeom prst="rect">
            <a:avLst/>
          </a:prstGeom>
          <a:solidFill>
            <a:srgbClr val="1C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Sunline Tech Platform  –  APIBase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2415" y="676656"/>
            <a:ext cx="9473184" cy="22860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Transaction Processing Center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2415" y="905256"/>
            <a:ext cx="9473184" cy="3767328"/>
          </a:xfrm>
          <a:prstGeom prst="rect">
            <a:avLst/>
          </a:prstGeom>
          <a:solidFill>
            <a:srgbClr val="C2DBEA"/>
          </a:solidFill>
          <a:ln w="5080">
            <a:solidFill>
              <a:srgbClr val="2C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 rot="16200000">
            <a:off x="1051560" y="1234440"/>
            <a:ext cx="25603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FFFFFF"/>
                </a:solidFill>
              </a:rPr>
              <a:t>Joint Launching Available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932688"/>
            <a:ext cx="1938528" cy="201168"/>
          </a:xfrm>
          <a:prstGeom prst="rect">
            <a:avLst/>
          </a:prstGeom>
          <a:solidFill>
            <a:srgbClr val="1C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Customer Center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1133856"/>
            <a:ext cx="1938528" cy="2560320"/>
          </a:xfrm>
          <a:prstGeom prst="rect">
            <a:avLst/>
          </a:prstGeom>
          <a:solidFill>
            <a:srgbClr val="FFFFFF"/>
          </a:solidFill>
          <a:ln w="508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35608" y="1161288"/>
            <a:ext cx="941832" cy="182880"/>
          </a:xfrm>
          <a:prstGeom prst="rect">
            <a:avLst/>
          </a:prstGeom>
          <a:solidFill>
            <a:srgbClr val="2C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Individual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95728" y="1161288"/>
            <a:ext cx="932688" cy="182880"/>
          </a:xfrm>
          <a:prstGeom prst="rect">
            <a:avLst/>
          </a:prstGeom>
          <a:solidFill>
            <a:srgbClr val="2C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Corporate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44752" y="1371600"/>
            <a:ext cx="914400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Requirement Management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86584" y="1371600"/>
            <a:ext cx="914400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Credit Limit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44752" y="1609344"/>
            <a:ext cx="914400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Collateral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86584" y="1609344"/>
            <a:ext cx="914400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Authorization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44752" y="1847088"/>
            <a:ext cx="914400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Document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86584" y="1847088"/>
            <a:ext cx="914400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Questionnaire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44752" y="2084832"/>
            <a:ext cx="914400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KYC Verification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86584" y="2084832"/>
            <a:ext cx="914400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Black List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44752" y="2322576"/>
            <a:ext cx="914400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Customer Group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322576"/>
            <a:ext cx="914400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Customer Product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932688"/>
            <a:ext cx="1737360" cy="201168"/>
          </a:xfrm>
          <a:prstGeom prst="rect">
            <a:avLst/>
          </a:prstGeom>
          <a:solidFill>
            <a:srgbClr val="1C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Loan Center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1133856"/>
            <a:ext cx="1737360" cy="2560320"/>
          </a:xfrm>
          <a:prstGeom prst="rect">
            <a:avLst/>
          </a:prstGeom>
          <a:solidFill>
            <a:srgbClr val="FFFFFF"/>
          </a:solidFill>
          <a:ln w="508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01568" y="1161288"/>
            <a:ext cx="804672" cy="182880"/>
          </a:xfrm>
          <a:prstGeom prst="rect">
            <a:avLst/>
          </a:prstGeom>
          <a:solidFill>
            <a:srgbClr val="2C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FFFFFF"/>
                </a:solidFill>
              </a:rPr>
              <a:t>Primary 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33672" y="1161288"/>
            <a:ext cx="850392" cy="182880"/>
          </a:xfrm>
          <a:prstGeom prst="rect">
            <a:avLst/>
          </a:prstGeom>
          <a:solidFill>
            <a:srgbClr val="2C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FFFFFF"/>
                </a:solidFill>
              </a:rPr>
              <a:t>Secondary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10712" y="1371600"/>
            <a:ext cx="1682495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Guidance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10712" y="1609344"/>
            <a:ext cx="1682495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Application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10712" y="1847088"/>
            <a:ext cx="1682495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Credit Process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10712" y="2084832"/>
            <a:ext cx="1682495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Loan Booking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10712" y="2322576"/>
            <a:ext cx="1682495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Disbursement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10712" y="2560320"/>
            <a:ext cx="1682495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Settlement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10712" y="2798064"/>
            <a:ext cx="1682495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Penalty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10712" y="3108960"/>
            <a:ext cx="804672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Pricing Factory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42816" y="3108960"/>
            <a:ext cx="804672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Product Factory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10712" y="3346704"/>
            <a:ext cx="804672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Exchange Rate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42816" y="3346704"/>
            <a:ext cx="804672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Debit Card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48072" y="932688"/>
            <a:ext cx="1005840" cy="201168"/>
          </a:xfrm>
          <a:prstGeom prst="rect">
            <a:avLst/>
          </a:prstGeom>
          <a:solidFill>
            <a:srgbClr val="1C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Account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48072" y="1133856"/>
            <a:ext cx="1005840" cy="1216152"/>
          </a:xfrm>
          <a:prstGeom prst="rect">
            <a:avLst/>
          </a:prstGeom>
          <a:solidFill>
            <a:srgbClr val="FFFFFF"/>
          </a:solidFill>
          <a:ln w="508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75504" y="1161288"/>
            <a:ext cx="950976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Savings Product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75504" y="1408176"/>
            <a:ext cx="950976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Demand Deposit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75504" y="1655064"/>
            <a:ext cx="950976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Time Deposit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75504" y="1901952"/>
            <a:ext cx="950976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Overdraft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81344" y="932688"/>
            <a:ext cx="1755648" cy="201168"/>
          </a:xfrm>
          <a:prstGeom prst="rect">
            <a:avLst/>
          </a:prstGeom>
          <a:solidFill>
            <a:srgbClr val="1C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Treasury / Trade Finance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81344" y="1133856"/>
            <a:ext cx="1755648" cy="2560320"/>
          </a:xfrm>
          <a:prstGeom prst="rect">
            <a:avLst/>
          </a:prstGeom>
          <a:solidFill>
            <a:srgbClr val="FFFFFF"/>
          </a:solidFill>
          <a:ln w="508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99631" y="1161288"/>
            <a:ext cx="822960" cy="182880"/>
          </a:xfrm>
          <a:prstGeom prst="rect">
            <a:avLst/>
          </a:prstGeom>
          <a:solidFill>
            <a:srgbClr val="2C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Treasury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0024" y="1161288"/>
            <a:ext cx="850392" cy="182880"/>
          </a:xfrm>
          <a:prstGeom prst="rect">
            <a:avLst/>
          </a:prstGeom>
          <a:solidFill>
            <a:srgbClr val="2C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Trade Fin.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08776" y="1371600"/>
            <a:ext cx="1700784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FX Rate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08776" y="1609344"/>
            <a:ext cx="1700784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Money Market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08776" y="1847088"/>
            <a:ext cx="1700784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Bond / Securities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08776" y="2084832"/>
            <a:ext cx="1700784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LC / LG Issuance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08776" y="2322576"/>
            <a:ext cx="1700784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Import / Export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08776" y="2560320"/>
            <a:ext cx="1700784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Guarantee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08776" y="2798064"/>
            <a:ext cx="1700784" cy="210312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Liability Mgmt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64424" y="932688"/>
            <a:ext cx="1097280" cy="201168"/>
          </a:xfrm>
          <a:prstGeom prst="rect">
            <a:avLst/>
          </a:prstGeom>
          <a:solidFill>
            <a:srgbClr val="1C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Remittance
Center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64424" y="1133856"/>
            <a:ext cx="1097280" cy="1810512"/>
          </a:xfrm>
          <a:prstGeom prst="rect">
            <a:avLst/>
          </a:prstGeom>
          <a:solidFill>
            <a:srgbClr val="FFFFFF"/>
          </a:solidFill>
          <a:ln w="508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991856" y="1161288"/>
            <a:ext cx="1042415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Domestic Transfer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91856" y="1417320"/>
            <a:ext cx="1042415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Cross Border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91856" y="1673352"/>
            <a:ext cx="1042415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SWIFT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91856" y="1929384"/>
            <a:ext cx="1042415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ACH / RTGS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91856" y="2185416"/>
            <a:ext cx="1042415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Standing Order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098280" y="932688"/>
            <a:ext cx="1353312" cy="201168"/>
          </a:xfrm>
          <a:prstGeom prst="rect">
            <a:avLst/>
          </a:prstGeom>
          <a:solidFill>
            <a:srgbClr val="1C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Card Center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98280" y="1133856"/>
            <a:ext cx="1353312" cy="2560320"/>
          </a:xfrm>
          <a:prstGeom prst="rect">
            <a:avLst/>
          </a:prstGeom>
          <a:solidFill>
            <a:srgbClr val="FFFFFF"/>
          </a:solidFill>
          <a:ln w="508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125711" y="1161288"/>
            <a:ext cx="621792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OA Center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774935" y="1161288"/>
            <a:ext cx="621792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3E API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25711" y="1408176"/>
            <a:ext cx="621792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Gateway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774935" y="1408176"/>
            <a:ext cx="621792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Partner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25711" y="1655064"/>
            <a:ext cx="621792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FX Manager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74935" y="1655064"/>
            <a:ext cx="621792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Card Issuing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25711" y="1929384"/>
            <a:ext cx="1298448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Card Acquiring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25711" y="2176272"/>
            <a:ext cx="1298448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Loyalty Points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48072" y="2377440"/>
            <a:ext cx="1005840" cy="201168"/>
          </a:xfrm>
          <a:prstGeom prst="rect">
            <a:avLst/>
          </a:prstGeom>
          <a:solidFill>
            <a:srgbClr val="1C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Marketing
Factory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48072" y="2578608"/>
            <a:ext cx="1005840" cy="1152144"/>
          </a:xfrm>
          <a:prstGeom prst="rect">
            <a:avLst/>
          </a:prstGeom>
          <a:solidFill>
            <a:srgbClr val="FFFFFF"/>
          </a:solidFill>
          <a:ln w="508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175504" y="2606040"/>
            <a:ext cx="950976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Campaign Mgmt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75504" y="2852928"/>
            <a:ext cx="950976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Loyalty Program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75504" y="3099816"/>
            <a:ext cx="950976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Offer Engine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175504" y="3346704"/>
            <a:ext cx="950976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Analytics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964424" y="2971800"/>
            <a:ext cx="2487168" cy="201168"/>
          </a:xfrm>
          <a:prstGeom prst="rect">
            <a:avLst/>
          </a:prstGeom>
          <a:solidFill>
            <a:srgbClr val="1C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Operation Center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964424" y="3172968"/>
            <a:ext cx="2487168" cy="1463040"/>
          </a:xfrm>
          <a:prstGeom prst="rect">
            <a:avLst/>
          </a:prstGeom>
          <a:solidFill>
            <a:srgbClr val="FFFFFF"/>
          </a:solidFill>
          <a:ln w="508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91856" y="3200400"/>
            <a:ext cx="1188720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End of Day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208008" y="3200400"/>
            <a:ext cx="1188720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Batch Processing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91856" y="3447288"/>
            <a:ext cx="1188720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Reconciliation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208008" y="3447288"/>
            <a:ext cx="1188720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GL Interface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991856" y="3694176"/>
            <a:ext cx="1188720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Authority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08008" y="3694176"/>
            <a:ext cx="1188720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Contract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81344" y="2971800"/>
            <a:ext cx="1755648" cy="201168"/>
          </a:xfrm>
          <a:prstGeom prst="rect">
            <a:avLst/>
          </a:prstGeom>
          <a:solidFill>
            <a:srgbClr val="1C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Sundry Debit / Credit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81344" y="3172968"/>
            <a:ext cx="1755648" cy="1463040"/>
          </a:xfrm>
          <a:prstGeom prst="rect">
            <a:avLst/>
          </a:prstGeom>
          <a:solidFill>
            <a:srgbClr val="FFFFFF"/>
          </a:solidFill>
          <a:ln w="508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208776" y="3200400"/>
            <a:ext cx="822960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Equity Management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59168" y="3200400"/>
            <a:ext cx="822960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Profiling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208776" y="3447288"/>
            <a:ext cx="822960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Enquiry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059168" y="3447288"/>
            <a:ext cx="822960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Reporting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08776" y="3694176"/>
            <a:ext cx="822960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GL Mapping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59168" y="3694176"/>
            <a:ext cx="822960" cy="219456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50" b="0">
                <a:solidFill>
                  <a:srgbClr val="1A1A1A"/>
                </a:solidFill>
              </a:rPr>
              <a:t>Tax Calculation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42415" y="4700016"/>
            <a:ext cx="9473184" cy="201168"/>
          </a:xfrm>
          <a:prstGeom prst="rect">
            <a:avLst/>
          </a:prstGeom>
          <a:solidFill>
            <a:srgbClr val="1C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42415" y="4700016"/>
            <a:ext cx="9473184" cy="201168"/>
          </a:xfrm>
          <a:prstGeom prst="rect">
            <a:avLst/>
          </a:prstGeom>
          <a:solidFill>
            <a:srgbClr val="1C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Account Processing Center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42415" y="4901183"/>
            <a:ext cx="9473184" cy="713232"/>
          </a:xfrm>
          <a:prstGeom prst="rect">
            <a:avLst/>
          </a:prstGeom>
          <a:solidFill>
            <a:srgbClr val="142B46"/>
          </a:solidFill>
          <a:ln w="5080">
            <a:solidFill>
              <a:srgbClr val="2C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88136" y="4928616"/>
            <a:ext cx="1252728" cy="603504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1A1A1A"/>
                </a:solidFill>
              </a:rPr>
              <a:t>ETL Base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404872" y="4928616"/>
            <a:ext cx="1252728" cy="603504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1A1A1A"/>
                </a:solidFill>
              </a:rPr>
              <a:t>Protocol
(Parsing Protocol)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721608" y="4928616"/>
            <a:ext cx="1252728" cy="603504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1A1A1A"/>
                </a:solidFill>
              </a:rPr>
              <a:t>Message Format
Management Protocol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038344" y="4928616"/>
            <a:ext cx="1252728" cy="603504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1A1A1A"/>
                </a:solidFill>
              </a:rPr>
              <a:t>Open API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55079" y="4928616"/>
            <a:ext cx="1252728" cy="603504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1A1A1A"/>
                </a:solidFill>
              </a:rPr>
              <a:t>Routing
Management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71815" y="4928616"/>
            <a:ext cx="1252728" cy="603504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1A1A1A"/>
                </a:solidFill>
              </a:rPr>
              <a:t>API Tenant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88552" y="4928616"/>
            <a:ext cx="1252728" cy="603504"/>
          </a:xfrm>
          <a:prstGeom prst="rect">
            <a:avLst/>
          </a:prstGeom>
          <a:solidFill>
            <a:srgbClr val="ECF5FB"/>
          </a:solidFill>
          <a:ln w="3810"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1A1A1A"/>
                </a:solidFill>
              </a:rPr>
              <a:t>AI Center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0" y="402336"/>
            <a:ext cx="1042415" cy="5897880"/>
          </a:xfrm>
          <a:prstGeom prst="rect">
            <a:avLst/>
          </a:prstGeom>
          <a:solidFill>
            <a:srgbClr val="142B46"/>
          </a:solidFill>
          <a:ln w="6350">
            <a:solidFill>
              <a:srgbClr val="2C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8288" y="420624"/>
            <a:ext cx="1005840" cy="237744"/>
          </a:xfrm>
          <a:prstGeom prst="rect">
            <a:avLst/>
          </a:prstGeom>
          <a:solidFill>
            <a:srgbClr val="1C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Access Point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" y="694944"/>
            <a:ext cx="950976" cy="475488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Customer
Center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5720" y="1243584"/>
            <a:ext cx="950976" cy="475488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Branch
Channel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" y="1792224"/>
            <a:ext cx="950976" cy="475488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ATM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5720" y="2340863"/>
            <a:ext cx="950976" cy="475488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Cash
Management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" y="2889504"/>
            <a:ext cx="950976" cy="475488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IVR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5720" y="3438144"/>
            <a:ext cx="950976" cy="475488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AFM / Z-Box /
Smart Box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" y="3986783"/>
            <a:ext cx="950976" cy="475488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Internet
Banking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720" y="4535424"/>
            <a:ext cx="950976" cy="475488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Fuel
Limiting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" y="5084064"/>
            <a:ext cx="950976" cy="475488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APIs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5720" y="5577840"/>
            <a:ext cx="457200" cy="256032"/>
          </a:xfrm>
          <a:prstGeom prst="rect">
            <a:avLst/>
          </a:prstGeom>
          <a:solidFill>
            <a:srgbClr val="F0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Sunline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21207" y="5577840"/>
            <a:ext cx="493776" cy="256032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</a:rPr>
              <a:t>Partner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515600" y="402336"/>
            <a:ext cx="1673352" cy="5897880"/>
          </a:xfrm>
          <a:prstGeom prst="rect">
            <a:avLst/>
          </a:prstGeom>
          <a:solidFill>
            <a:srgbClr val="142B46"/>
          </a:solidFill>
          <a:ln w="6350">
            <a:solidFill>
              <a:srgbClr val="2C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533888" y="420624"/>
            <a:ext cx="1444752" cy="237744"/>
          </a:xfrm>
          <a:prstGeom prst="rect">
            <a:avLst/>
          </a:prstGeom>
          <a:solidFill>
            <a:srgbClr val="1C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Extended Service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552176" y="694944"/>
            <a:ext cx="1005840" cy="438912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UAM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552176" y="1197864"/>
            <a:ext cx="1005840" cy="438912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Origination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552176" y="1700784"/>
            <a:ext cx="1005840" cy="438912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Collection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552176" y="2203704"/>
            <a:ext cx="1005840" cy="438912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Interactive
Documents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552176" y="2706624"/>
            <a:ext cx="1005840" cy="438912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Trouble Desk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552176" y="3209544"/>
            <a:ext cx="1005840" cy="438912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Digital Lending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552176" y="3712464"/>
            <a:ext cx="1005840" cy="438912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Smart Analytics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552176" y="4215384"/>
            <a:ext cx="1005840" cy="438912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Contract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552176" y="4718304"/>
            <a:ext cx="1005840" cy="438912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CRM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552176" y="5221224"/>
            <a:ext cx="1005840" cy="438912"/>
          </a:xfrm>
          <a:prstGeom prst="rect">
            <a:avLst/>
          </a:prstGeom>
          <a:solidFill>
            <a:srgbClr val="1C4268"/>
          </a:solidFill>
          <a:ln w="5080">
            <a:solidFill>
              <a:srgbClr val="9C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Law, Limit</a:t>
            </a:r>
          </a:p>
        </p:txBody>
      </p:sp>
      <p:sp>
        <p:nvSpPr>
          <p:cNvPr id="138" name="TextBox 137"/>
          <p:cNvSpPr txBox="1"/>
          <p:nvPr/>
        </p:nvSpPr>
        <p:spPr>
          <a:xfrm rot="16200000">
            <a:off x="11905488" y="1097280"/>
            <a:ext cx="2560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FFFFFF"/>
                </a:solidFill>
              </a:rPr>
              <a:t>Enterprise Integration Layer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5720" y="6327648"/>
            <a:ext cx="1261872" cy="493776"/>
          </a:xfrm>
          <a:prstGeom prst="rect">
            <a:avLst/>
          </a:prstGeom>
          <a:solidFill>
            <a:srgbClr val="F0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Sunline
Data Platform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353312" y="6345936"/>
            <a:ext cx="1828800" cy="475488"/>
          </a:xfrm>
          <a:prstGeom prst="rect">
            <a:avLst/>
          </a:prstGeom>
          <a:solidFill>
            <a:srgbClr val="142B46"/>
          </a:solidFill>
          <a:ln w="5080">
            <a:solidFill>
              <a:srgbClr val="2C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</a:rPr>
              <a:t>Enterprise
Data Warehouse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319272" y="6345936"/>
            <a:ext cx="1828800" cy="475488"/>
          </a:xfrm>
          <a:prstGeom prst="rect">
            <a:avLst/>
          </a:prstGeom>
          <a:solidFill>
            <a:srgbClr val="142B46"/>
          </a:solidFill>
          <a:ln w="5080">
            <a:solidFill>
              <a:srgbClr val="2C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</a:rPr>
              <a:t>Data Analytics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285231" y="6345936"/>
            <a:ext cx="1828800" cy="475488"/>
          </a:xfrm>
          <a:prstGeom prst="rect">
            <a:avLst/>
          </a:prstGeom>
          <a:solidFill>
            <a:srgbClr val="142B46"/>
          </a:solidFill>
          <a:ln w="5080">
            <a:solidFill>
              <a:srgbClr val="2C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</a:rPr>
              <a:t>Enterprise Report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251192" y="6345936"/>
            <a:ext cx="1828800" cy="475488"/>
          </a:xfrm>
          <a:prstGeom prst="rect">
            <a:avLst/>
          </a:prstGeom>
          <a:solidFill>
            <a:srgbClr val="142B46"/>
          </a:solidFill>
          <a:ln w="5080">
            <a:solidFill>
              <a:srgbClr val="2C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</a:rPr>
              <a:t>Precision
Marketing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217152" y="6345936"/>
            <a:ext cx="1828800" cy="475488"/>
          </a:xfrm>
          <a:prstGeom prst="rect">
            <a:avLst/>
          </a:prstGeom>
          <a:solidFill>
            <a:srgbClr val="142B46"/>
          </a:solidFill>
          <a:ln w="5080">
            <a:solidFill>
              <a:srgbClr val="2C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</a:rPr>
              <a:t>Distributed
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